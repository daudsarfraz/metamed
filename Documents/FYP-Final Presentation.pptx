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1" r:id="rId4"/>
    <p:sldMasterId id="2147483672" r:id="rId5"/>
    <p:sldMasterId id="214748367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5143500" cx="9144000"/>
  <p:notesSz cx="6858000" cy="9144000"/>
  <p:embeddedFontLst>
    <p:embeddedFont>
      <p:font typeface="Century Schoolbook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CenturySchoolbook-regular.fntdata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font" Target="fonts/CenturySchoolbook-italic.fntdata"/><Relationship Id="rId25" Type="http://schemas.openxmlformats.org/officeDocument/2006/relationships/font" Target="fonts/CenturySchoolbook-bold.fntdata"/><Relationship Id="rId27" Type="http://schemas.openxmlformats.org/officeDocument/2006/relationships/font" Target="fonts/CenturySchoolbook-bold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ff4706fa54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g1ff4706fa54_1_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1ff4706fa54_1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g1ff4706fa54_1_10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ff4706fa54_1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g1ff4706fa54_1_10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1ff4706fa54_1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" name="Google Shape;167;g1ff4706fa54_1_1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1ff4706fa54_1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g1ff4706fa54_1_1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1ff4706fa54_1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g1ff4706fa54_1_1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ff4706fa54_1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7" name="Google Shape;187;g1ff4706fa54_1_1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1ff4706fa54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3" name="Google Shape;193;g1ff4706fa54_1_1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ff4706fa54_1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1" name="Google Shape;201;g1ff4706fa54_1_1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4706fa54_1_1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g1ff4706fa54_1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1ff4706fa54_1_15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g1ff4706fa54_1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1ff4706fa54_1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4" name="Google Shape;224;g1ff4706fa54_1_1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ff4706fa54_1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0" name="Google Shape;230;g1ff4706fa54_1_1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ff4706fa54_1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g1ff4706fa54_1_1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ff4706fa54_1_1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g1ff4706fa54_1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ff4706fa54_1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g1ff4706fa54_1_18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bg>
      <p:bgPr>
        <a:solidFill>
          <a:srgbClr val="343437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946404" y="569214"/>
            <a:ext cx="7063740" cy="303123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Century Schoolbook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946404" y="3600450"/>
            <a:ext cx="7063740" cy="12687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300"/>
              <a:buNone/>
              <a:defRPr sz="1700">
                <a:solidFill>
                  <a:srgbClr val="BFBFBF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A5A5A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4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2pPr>
            <a:lvl3pPr indent="-3175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3pPr>
            <a:lvl4pPr indent="-3175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5pPr>
            <a:lvl6pPr indent="-3175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6pPr>
            <a:lvl7pPr indent="-3175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8pPr>
            <a:lvl9pPr indent="-3175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400"/>
              <a:buChar char="●"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bg>
      <p:bgPr>
        <a:solidFill>
          <a:srgbClr val="343437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ctrTitle"/>
          </p:nvPr>
        </p:nvSpPr>
        <p:spPr>
          <a:xfrm>
            <a:off x="946404" y="569214"/>
            <a:ext cx="7063740" cy="303123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Century Schoolbook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" type="subTitle"/>
          </p:nvPr>
        </p:nvSpPr>
        <p:spPr>
          <a:xfrm>
            <a:off x="946404" y="3600450"/>
            <a:ext cx="7063740" cy="12687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300"/>
              <a:buNone/>
              <a:defRPr sz="1700">
                <a:solidFill>
                  <a:srgbClr val="BFBFBF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85" name="Google Shape;85;p18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A5A5A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8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946404" y="569214"/>
            <a:ext cx="7063740" cy="303123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entury Schoolbook"/>
              <a:buNone/>
              <a:defRPr b="0"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946404" y="3600450"/>
            <a:ext cx="7063740" cy="12687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300"/>
              <a:buNone/>
              <a:defRPr sz="1700">
                <a:solidFill>
                  <a:srgbClr val="59595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19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946404" y="1371600"/>
            <a:ext cx="3360420" cy="32635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 sz="1400"/>
            </a:lvl1pPr>
            <a:lvl2pPr indent="-3048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Char char="●"/>
              <a:defRPr sz="1200"/>
            </a:lvl2pPr>
            <a:lvl3pPr indent="-2984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3pPr>
            <a:lvl4pPr indent="-2984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5pPr>
            <a:lvl6pPr indent="-2984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6pPr>
            <a:lvl7pPr indent="-2984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8pPr>
            <a:lvl9pPr indent="-29845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100"/>
              <a:buChar char="●"/>
              <a:defRPr sz="1100"/>
            </a:lvl9pPr>
          </a:lstStyle>
          <a:p/>
        </p:txBody>
      </p:sp>
      <p:sp>
        <p:nvSpPr>
          <p:cNvPr id="99" name="Google Shape;99;p20"/>
          <p:cNvSpPr txBox="1"/>
          <p:nvPr>
            <p:ph idx="2" type="body"/>
          </p:nvPr>
        </p:nvSpPr>
        <p:spPr>
          <a:xfrm>
            <a:off x="4594860" y="1371600"/>
            <a:ext cx="3360420" cy="32635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 sz="1400"/>
            </a:lvl1pPr>
            <a:lvl2pPr indent="-3048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Char char="●"/>
              <a:defRPr sz="1200"/>
            </a:lvl2pPr>
            <a:lvl3pPr indent="-2984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3pPr>
            <a:lvl4pPr indent="-2984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5pPr>
            <a:lvl6pPr indent="-2984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6pPr>
            <a:lvl7pPr indent="-2984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8pPr>
            <a:lvl9pPr indent="-29845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100"/>
              <a:buChar char="●"/>
              <a:defRPr sz="1100"/>
            </a:lvl9pPr>
          </a:lstStyle>
          <a:p/>
        </p:txBody>
      </p:sp>
      <p:sp>
        <p:nvSpPr>
          <p:cNvPr id="100" name="Google Shape;100;p20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0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946404" y="1285241"/>
            <a:ext cx="33604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sz="15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06" name="Google Shape;106;p21"/>
          <p:cNvSpPr txBox="1"/>
          <p:nvPr>
            <p:ph idx="2" type="body"/>
          </p:nvPr>
        </p:nvSpPr>
        <p:spPr>
          <a:xfrm>
            <a:off x="946404" y="1880663"/>
            <a:ext cx="3360420" cy="27484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 sz="1400"/>
            </a:lvl1pPr>
            <a:lvl2pPr indent="-3048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Char char="●"/>
              <a:defRPr sz="1200"/>
            </a:lvl2pPr>
            <a:lvl3pPr indent="-2984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3pPr>
            <a:lvl4pPr indent="-2984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5pPr>
            <a:lvl6pPr indent="-2984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6pPr>
            <a:lvl7pPr indent="-2984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8pPr>
            <a:lvl9pPr indent="-29845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100"/>
              <a:buChar char="●"/>
              <a:defRPr sz="1100"/>
            </a:lvl9pPr>
          </a:lstStyle>
          <a:p/>
        </p:txBody>
      </p:sp>
      <p:sp>
        <p:nvSpPr>
          <p:cNvPr id="107" name="Google Shape;107;p21"/>
          <p:cNvSpPr txBox="1"/>
          <p:nvPr>
            <p:ph idx="3" type="body"/>
          </p:nvPr>
        </p:nvSpPr>
        <p:spPr>
          <a:xfrm>
            <a:off x="4594860" y="1285241"/>
            <a:ext cx="33604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sz="1500">
                <a:solidFill>
                  <a:schemeClr val="dk2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08" name="Google Shape;108;p21"/>
          <p:cNvSpPr txBox="1"/>
          <p:nvPr>
            <p:ph idx="4" type="body"/>
          </p:nvPr>
        </p:nvSpPr>
        <p:spPr>
          <a:xfrm>
            <a:off x="4594860" y="1880663"/>
            <a:ext cx="3360420" cy="27484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 sz="1400"/>
            </a:lvl1pPr>
            <a:lvl2pPr indent="-3048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Char char="●"/>
              <a:defRPr sz="1200"/>
            </a:lvl2pPr>
            <a:lvl3pPr indent="-2984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3pPr>
            <a:lvl4pPr indent="-2984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5pPr>
            <a:lvl6pPr indent="-2984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6pPr>
            <a:lvl7pPr indent="-2984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8pPr>
            <a:lvl9pPr indent="-29845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100"/>
              <a:buChar char="●"/>
              <a:defRPr sz="1100"/>
            </a:lvl9pPr>
          </a:lstStyle>
          <a:p/>
        </p:txBody>
      </p:sp>
      <p:sp>
        <p:nvSpPr>
          <p:cNvPr id="109" name="Google Shape;109;p21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21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1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22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2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630936" y="342900"/>
            <a:ext cx="2400300" cy="120014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entury Schoolbook"/>
              <a:buNone/>
              <a:defRPr b="0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" type="body"/>
          </p:nvPr>
        </p:nvSpPr>
        <p:spPr>
          <a:xfrm>
            <a:off x="3378200" y="514350"/>
            <a:ext cx="4559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0480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200"/>
              <a:buChar char="•"/>
              <a:defRPr sz="1500"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 sz="1400"/>
            </a:lvl2pPr>
            <a:lvl3pPr indent="-3048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Char char="●"/>
              <a:defRPr sz="1200"/>
            </a:lvl3pPr>
            <a:lvl4pPr indent="-2984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5pPr>
            <a:lvl6pPr indent="-2984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6pPr>
            <a:lvl7pPr indent="-2984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100"/>
              <a:buChar char="●"/>
              <a:defRPr sz="1100"/>
            </a:lvl8pPr>
            <a:lvl9pPr indent="-29845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100"/>
              <a:buChar char="●"/>
              <a:defRPr sz="1100"/>
            </a:lvl9pPr>
          </a:lstStyle>
          <a:p/>
        </p:txBody>
      </p:sp>
      <p:sp>
        <p:nvSpPr>
          <p:cNvPr id="119" name="Google Shape;119;p23"/>
          <p:cNvSpPr txBox="1"/>
          <p:nvPr>
            <p:ph idx="2" type="body"/>
          </p:nvPr>
        </p:nvSpPr>
        <p:spPr>
          <a:xfrm>
            <a:off x="630936" y="1574801"/>
            <a:ext cx="2400300" cy="28575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900"/>
            </a:lvl2pPr>
            <a:lvl3pPr indent="-2286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800"/>
            </a:lvl3pPr>
            <a:lvl4pPr indent="-2286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20" name="Google Shape;120;p23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3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3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4"/>
          <p:cNvSpPr txBox="1"/>
          <p:nvPr>
            <p:ph type="title"/>
          </p:nvPr>
        </p:nvSpPr>
        <p:spPr>
          <a:xfrm>
            <a:off x="685800" y="3943350"/>
            <a:ext cx="74866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Century Schoolbook"/>
              <a:buNone/>
              <a:defRPr b="0"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4"/>
          <p:cNvSpPr/>
          <p:nvPr>
            <p:ph idx="2" type="pic"/>
          </p:nvPr>
        </p:nvSpPr>
        <p:spPr>
          <a:xfrm>
            <a:off x="0" y="0"/>
            <a:ext cx="8469630" cy="3846692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685800" y="4581442"/>
            <a:ext cx="7486650" cy="44775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None/>
              <a:defRPr sz="1000">
                <a:solidFill>
                  <a:srgbClr val="D8D8D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900"/>
            </a:lvl2pPr>
            <a:lvl3pPr indent="-2286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800"/>
            </a:lvl3pPr>
            <a:lvl4pPr indent="-2286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28" name="Google Shape;128;p24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9" name="Google Shape;129;p24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4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5"/>
          <p:cNvSpPr txBox="1"/>
          <p:nvPr>
            <p:ph idx="1" type="body"/>
          </p:nvPr>
        </p:nvSpPr>
        <p:spPr>
          <a:xfrm rot="5400000">
            <a:off x="2537913" y="-219909"/>
            <a:ext cx="3263503" cy="64465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2pPr>
            <a:lvl3pPr indent="-3175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3pPr>
            <a:lvl4pPr indent="-3175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5pPr>
            <a:lvl6pPr indent="-3175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6pPr>
            <a:lvl7pPr indent="-3175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8pPr>
            <a:lvl9pPr indent="-3175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400"/>
              <a:buChar char="●"/>
              <a:defRPr/>
            </a:lvl9pPr>
          </a:lstStyle>
          <a:p/>
        </p:txBody>
      </p:sp>
      <p:sp>
        <p:nvSpPr>
          <p:cNvPr id="134" name="Google Shape;134;p25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5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6" name="Google Shape;136;p25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>
            <p:ph type="title"/>
          </p:nvPr>
        </p:nvSpPr>
        <p:spPr>
          <a:xfrm rot="5400000">
            <a:off x="5203627" y="1568648"/>
            <a:ext cx="4423172" cy="185737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6"/>
          <p:cNvSpPr txBox="1"/>
          <p:nvPr>
            <p:ph idx="1" type="body"/>
          </p:nvPr>
        </p:nvSpPr>
        <p:spPr>
          <a:xfrm rot="5400000">
            <a:off x="1260277" y="-403027"/>
            <a:ext cx="4423172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SzPts val="11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2pPr>
            <a:lvl3pPr indent="-31750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3pPr>
            <a:lvl4pPr indent="-31750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5pPr>
            <a:lvl6pPr indent="-31750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6pPr>
            <a:lvl7pPr indent="-31750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  <a:defRPr/>
            </a:lvl8pPr>
            <a:lvl9pPr indent="-317500" lvl="8" marL="411480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SzPts val="1400"/>
              <a:buChar char="●"/>
              <a:defRPr/>
            </a:lvl9pPr>
          </a:lstStyle>
          <a:p/>
        </p:txBody>
      </p:sp>
      <p:sp>
        <p:nvSpPr>
          <p:cNvPr id="140" name="Google Shape;140;p26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1" name="Google Shape;141;p26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2" name="Google Shape;142;p26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rgbClr val="A7A19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Schoolbook"/>
              <a:buNone/>
              <a:defRPr b="0" i="0" sz="33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-3048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●"/>
              <a:defRPr b="0" i="0" sz="12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-298450" lvl="2" marL="13716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-298450" lvl="5" marL="27432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-298450" lvl="6" marL="3200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-298450" lvl="7" marL="36576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-298450" lvl="8" marL="4114800" marR="0" rtl="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800" u="none" cap="none" strike="noStrike">
                <a:solidFill>
                  <a:srgbClr val="F6F5F4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800" u="none" cap="none" strike="noStrike">
                <a:solidFill>
                  <a:srgbClr val="F6F5F4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E6E4DF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rgbClr val="34343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5"/>
          <p:cNvSpPr txBox="1"/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  <a:defRPr b="0" i="0" sz="33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-3048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●"/>
              <a:defRPr b="0" i="0" sz="12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-298450" lvl="2" marL="13716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-298450" lvl="5" marL="27432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-298450" lvl="6" marL="3200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-298450" lvl="7" marL="36576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-298450" lvl="8" marL="4114800" marR="0" rtl="0"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>
                <a:schemeClr val="accent1"/>
              </a:buClr>
              <a:buSzPts val="1100"/>
              <a:buFont typeface="Noto Sans Symbols"/>
              <a:buChar char="●"/>
              <a:defRPr b="0" i="0" sz="11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68" name="Google Shape;68;p15"/>
          <p:cNvSpPr txBox="1"/>
          <p:nvPr>
            <p:ph idx="10" type="dt"/>
          </p:nvPr>
        </p:nvSpPr>
        <p:spPr>
          <a:xfrm rot="-5400000">
            <a:off x="8098157" y="748903"/>
            <a:ext cx="142874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800" u="none" cap="none" strike="noStrike">
                <a:solidFill>
                  <a:srgbClr val="DADADA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69" name="Google Shape;69;p15"/>
          <p:cNvSpPr txBox="1"/>
          <p:nvPr>
            <p:ph idx="11" type="ftr"/>
          </p:nvPr>
        </p:nvSpPr>
        <p:spPr>
          <a:xfrm rot="-5400000">
            <a:off x="7469506" y="3034903"/>
            <a:ext cx="268605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800" u="none" cap="none" strike="noStrike">
                <a:solidFill>
                  <a:srgbClr val="DADADA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70" name="Google Shape;70;p15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b="0" i="0" sz="2700" u="none" cap="none" strike="noStrike">
                <a:solidFill>
                  <a:srgbClr val="8E8E93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ctrTitle"/>
          </p:nvPr>
        </p:nvSpPr>
        <p:spPr>
          <a:xfrm>
            <a:off x="2830725" y="1280575"/>
            <a:ext cx="5874600" cy="14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3429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666"/>
              <a:buFont typeface="Arial"/>
              <a:buNone/>
            </a:pPr>
            <a:r>
              <a:t/>
            </a:r>
            <a:endParaRPr sz="3000"/>
          </a:p>
          <a:p>
            <a:pPr indent="0" lvl="0" marL="3429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666"/>
              <a:buFont typeface="Arial"/>
              <a:buNone/>
            </a:pPr>
            <a:r>
              <a:t/>
            </a:r>
            <a:endParaRPr sz="3000"/>
          </a:p>
          <a:p>
            <a:pPr indent="0" lvl="0" marL="3429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666"/>
              <a:buFont typeface="Arial"/>
              <a:buNone/>
            </a:pPr>
            <a:r>
              <a:rPr lang="en" sz="3000"/>
              <a:t>Enhancing Medical Education through Immersive Virtual   Reality</a:t>
            </a:r>
            <a:endParaRPr sz="3000"/>
          </a:p>
          <a:p>
            <a:pPr indent="0" lvl="0" marL="3429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80000"/>
              <a:buFont typeface="Century Schoolbook"/>
              <a:buNone/>
            </a:pPr>
            <a:r>
              <a:t/>
            </a:r>
            <a:endParaRPr sz="3000"/>
          </a:p>
        </p:txBody>
      </p:sp>
      <p:sp>
        <p:nvSpPr>
          <p:cNvPr id="148" name="Google Shape;148;p27"/>
          <p:cNvSpPr txBox="1"/>
          <p:nvPr>
            <p:ph idx="1" type="subTitle"/>
          </p:nvPr>
        </p:nvSpPr>
        <p:spPr>
          <a:xfrm>
            <a:off x="946404" y="3014106"/>
            <a:ext cx="7063800" cy="18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en" sz="1200"/>
              <a:t>Group Members:</a:t>
            </a:r>
            <a:endParaRPr b="1" sz="12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rPr b="1" lang="en" sz="1200"/>
              <a:t>Dawood Sarfraz (20P-0153)</a:t>
            </a:r>
            <a:endParaRPr b="1" sz="12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rPr b="1" lang="en" sz="1200"/>
              <a:t>Waleed Akram (20P-0640)</a:t>
            </a:r>
            <a:endParaRPr b="1" sz="12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" sz="1200"/>
              <a:t>Shoaib Akhtar (20P-0147))</a:t>
            </a:r>
            <a:r>
              <a:rPr b="1" lang="en" sz="1200">
                <a:solidFill>
                  <a:srgbClr val="BFBFBF"/>
                </a:solidFill>
              </a:rPr>
              <a:t>                                                   </a:t>
            </a:r>
            <a:r>
              <a:rPr b="1" lang="en" sz="1200"/>
              <a:t> </a:t>
            </a:r>
            <a:r>
              <a:rPr b="1" lang="en" sz="1200">
                <a:solidFill>
                  <a:srgbClr val="BFBFBF"/>
                </a:solidFill>
              </a:rPr>
              <a:t>                </a:t>
            </a:r>
            <a:r>
              <a:rPr b="1" lang="en" sz="1200">
                <a:solidFill>
                  <a:srgbClr val="FFFFFF"/>
                </a:solidFill>
              </a:rPr>
              <a:t>Project Supervisor:</a:t>
            </a:r>
            <a:endParaRPr b="1" sz="1200">
              <a:solidFill>
                <a:srgbClr val="BFBFBF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" sz="1200">
                <a:solidFill>
                  <a:srgbClr val="FFFFFF"/>
                </a:solidFill>
              </a:rPr>
              <a:t>                                                                                                                   Dr. Muhammad Amin</a:t>
            </a:r>
            <a:endParaRPr b="1" sz="12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12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00"/>
              <a:buNone/>
            </a:pPr>
            <a:r>
              <a:rPr b="1" lang="en" sz="1200">
                <a:solidFill>
                  <a:srgbClr val="FFFFFF"/>
                </a:solidFill>
              </a:rPr>
              <a:t>                                                                                                                                                                                                </a:t>
            </a:r>
            <a:endParaRPr b="1" sz="12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t/>
            </a:r>
            <a:endParaRPr b="1" sz="1200"/>
          </a:p>
        </p:txBody>
      </p:sp>
      <p:pic>
        <p:nvPicPr>
          <p:cNvPr descr="A blue circle with white text and a green letter&#10;&#10;Description automatically generated" id="149" name="Google Shape;14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1555" y="-3572"/>
            <a:ext cx="949748" cy="949748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7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1" name="Google Shape;151;p27"/>
          <p:cNvSpPr txBox="1"/>
          <p:nvPr/>
        </p:nvSpPr>
        <p:spPr>
          <a:xfrm>
            <a:off x="1018369" y="1124831"/>
            <a:ext cx="2232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MetaMed:</a:t>
            </a:r>
            <a:endParaRPr b="0" i="0" sz="3200" u="none" cap="none" strike="noStrike">
              <a:solidFill>
                <a:schemeClr val="lt1"/>
              </a:solidFill>
              <a:latin typeface="Century Schoolbook"/>
              <a:ea typeface="Century Schoolbook"/>
              <a:cs typeface="Century Schoolbook"/>
              <a:sym typeface="Century School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534881" y="209045"/>
            <a:ext cx="7269525" cy="82237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entury Schoolbook"/>
              <a:buNone/>
            </a:pPr>
            <a:r>
              <a:rPr lang="en"/>
              <a:t>Table Of Content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entury Schoolbook"/>
              <a:buNone/>
            </a:pPr>
            <a:r>
              <a:t/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946406" y="1115775"/>
            <a:ext cx="6446475" cy="4027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Introduction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Execution Plan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UML Diagrams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Tools Used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App Highlights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Teamwork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  <a:p>
            <a:pPr indent="-13970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en" sz="3000"/>
              <a:t>Demo</a:t>
            </a:r>
            <a:endParaRPr sz="3000"/>
          </a:p>
          <a:p>
            <a:pPr indent="0" lvl="0" marL="13970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3000"/>
          </a:p>
        </p:txBody>
      </p:sp>
      <p:sp>
        <p:nvSpPr>
          <p:cNvPr id="158" name="Google Shape;158;p28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9"/>
          <p:cNvSpPr txBox="1"/>
          <p:nvPr>
            <p:ph type="title"/>
          </p:nvPr>
        </p:nvSpPr>
        <p:spPr>
          <a:xfrm>
            <a:off x="560038" y="2173954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             1. Introduction</a:t>
            </a:r>
            <a:endParaRPr/>
          </a:p>
        </p:txBody>
      </p:sp>
      <p:sp>
        <p:nvSpPr>
          <p:cNvPr id="164" name="Google Shape;164;p29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0"/>
          <p:cNvSpPr txBox="1"/>
          <p:nvPr>
            <p:ph type="title"/>
          </p:nvPr>
        </p:nvSpPr>
        <p:spPr>
          <a:xfrm>
            <a:off x="535889" y="121383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170" name="Google Shape;170;p30"/>
          <p:cNvSpPr txBox="1"/>
          <p:nvPr>
            <p:ph idx="1" type="body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46050" lvl="0" marL="139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A VR-based medical training platform.</a:t>
            </a:r>
            <a:endParaRPr sz="1700"/>
          </a:p>
          <a:p>
            <a:pPr indent="0" lvl="0" marL="139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700"/>
          </a:p>
          <a:p>
            <a:pPr indent="-1460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Develop VR medical simulations with haptic feedback, enabling realistic training for medical students.</a:t>
            </a:r>
            <a:endParaRPr sz="1700"/>
          </a:p>
          <a:p>
            <a:pPr indent="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700"/>
          </a:p>
          <a:p>
            <a:pPr indent="-1460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Reduce costs and ethical concerns associated with traditional surgical training methods.</a:t>
            </a:r>
            <a:endParaRPr sz="17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700"/>
          </a:p>
          <a:p>
            <a:pPr indent="-1460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Unity 3D and Blender for environments.</a:t>
            </a:r>
            <a:endParaRPr sz="1700"/>
          </a:p>
        </p:txBody>
      </p:sp>
      <p:sp>
        <p:nvSpPr>
          <p:cNvPr id="171" name="Google Shape;171;p30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1"/>
          <p:cNvSpPr txBox="1"/>
          <p:nvPr>
            <p:ph type="title"/>
          </p:nvPr>
        </p:nvSpPr>
        <p:spPr>
          <a:xfrm>
            <a:off x="560038" y="2173954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            2. Execution Plan</a:t>
            </a:r>
            <a:endParaRPr/>
          </a:p>
        </p:txBody>
      </p:sp>
      <p:sp>
        <p:nvSpPr>
          <p:cNvPr id="177" name="Google Shape;177;p31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/>
          <p:cNvSpPr txBox="1"/>
          <p:nvPr>
            <p:ph type="title"/>
          </p:nvPr>
        </p:nvSpPr>
        <p:spPr>
          <a:xfrm>
            <a:off x="623925" y="169706"/>
            <a:ext cx="7269525" cy="642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Execution Plan</a:t>
            </a:r>
            <a:endParaRPr/>
          </a:p>
        </p:txBody>
      </p:sp>
      <p:sp>
        <p:nvSpPr>
          <p:cNvPr id="183" name="Google Shape;183;p32"/>
          <p:cNvSpPr txBox="1"/>
          <p:nvPr>
            <p:ph idx="1" type="body"/>
          </p:nvPr>
        </p:nvSpPr>
        <p:spPr>
          <a:xfrm>
            <a:off x="1250550" y="938681"/>
            <a:ext cx="6446475" cy="401827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139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" sz="1500"/>
              <a:t>FYP-1</a:t>
            </a:r>
            <a:endParaRPr b="1"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Environment setup in Unity3D and Blende</a:t>
            </a:r>
            <a:endParaRPr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Assets of App (Patient body, bed, tables and environment).</a:t>
            </a:r>
            <a:endParaRPr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Developed basic animations in 3D.</a:t>
            </a:r>
            <a:endParaRPr sz="1500"/>
          </a:p>
          <a:p>
            <a:pPr indent="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500"/>
          </a:p>
          <a:p>
            <a:pPr indent="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" sz="1500"/>
              <a:t>FYP-2</a:t>
            </a:r>
            <a:endParaRPr b="1"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Environment rendering to HDR.</a:t>
            </a:r>
            <a:endParaRPr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Rendering of Assets .</a:t>
            </a:r>
            <a:endParaRPr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Handling of Assets(Syringes, Pill Bottle, Sanitizers).</a:t>
            </a:r>
            <a:endParaRPr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Integration in oculus.</a:t>
            </a:r>
            <a:endParaRPr sz="1500"/>
          </a:p>
          <a:p>
            <a:pPr indent="-133350" lvl="0" marL="1397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Testing in oculus set.</a:t>
            </a:r>
            <a:endParaRPr sz="1500"/>
          </a:p>
        </p:txBody>
      </p:sp>
      <p:sp>
        <p:nvSpPr>
          <p:cNvPr id="184" name="Google Shape;184;p32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3"/>
          <p:cNvSpPr txBox="1"/>
          <p:nvPr>
            <p:ph type="title"/>
          </p:nvPr>
        </p:nvSpPr>
        <p:spPr>
          <a:xfrm>
            <a:off x="560038" y="2173954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           3. UML Diagrams</a:t>
            </a:r>
            <a:endParaRPr/>
          </a:p>
        </p:txBody>
      </p:sp>
      <p:sp>
        <p:nvSpPr>
          <p:cNvPr id="190" name="Google Shape;190;p33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4"/>
          <p:cNvSpPr txBox="1"/>
          <p:nvPr>
            <p:ph type="title"/>
          </p:nvPr>
        </p:nvSpPr>
        <p:spPr>
          <a:xfrm>
            <a:off x="0" y="117488"/>
            <a:ext cx="7607475" cy="72202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b="1" lang="en"/>
              <a:t>Use case Diagram</a:t>
            </a:r>
            <a:endParaRPr b="1"/>
          </a:p>
        </p:txBody>
      </p:sp>
      <p:sp>
        <p:nvSpPr>
          <p:cNvPr id="196" name="Google Shape;196;p34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7" name="Google Shape;197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819" y="741694"/>
            <a:ext cx="6435900" cy="379888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34"/>
          <p:cNvSpPr txBox="1"/>
          <p:nvPr/>
        </p:nvSpPr>
        <p:spPr>
          <a:xfrm>
            <a:off x="3293525" y="4563525"/>
            <a:ext cx="609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Fig.1.0. </a:t>
            </a:r>
            <a:r>
              <a:rPr lang="en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Use Case Diagram</a:t>
            </a:r>
            <a:endParaRPr>
              <a:solidFill>
                <a:schemeClr val="dk1"/>
              </a:solidFill>
              <a:latin typeface="Century Schoolbook"/>
              <a:ea typeface="Century Schoolbook"/>
              <a:cs typeface="Century Schoolbook"/>
              <a:sym typeface="Century Schoolboo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5"/>
          <p:cNvSpPr txBox="1"/>
          <p:nvPr>
            <p:ph type="title"/>
          </p:nvPr>
        </p:nvSpPr>
        <p:spPr>
          <a:xfrm>
            <a:off x="213918" y="73088"/>
            <a:ext cx="7237283" cy="59975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b="1" lang="en"/>
              <a:t>System Diagram</a:t>
            </a:r>
            <a:endParaRPr b="1"/>
          </a:p>
        </p:txBody>
      </p:sp>
      <p:sp>
        <p:nvSpPr>
          <p:cNvPr id="204" name="Google Shape;204;p35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5" name="Google Shape;205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925" y="688106"/>
            <a:ext cx="6887324" cy="377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35"/>
          <p:cNvSpPr txBox="1"/>
          <p:nvPr/>
        </p:nvSpPr>
        <p:spPr>
          <a:xfrm>
            <a:off x="2978150" y="4472525"/>
            <a:ext cx="609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Fig.2.0. System Diagram </a:t>
            </a:r>
            <a:endParaRPr>
              <a:solidFill>
                <a:schemeClr val="dk1"/>
              </a:solidFill>
              <a:latin typeface="Century Schoolbook"/>
              <a:ea typeface="Century Schoolbook"/>
              <a:cs typeface="Century Schoolbook"/>
              <a:sym typeface="Century Schoolboo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6"/>
          <p:cNvSpPr txBox="1"/>
          <p:nvPr>
            <p:ph type="title"/>
          </p:nvPr>
        </p:nvSpPr>
        <p:spPr>
          <a:xfrm>
            <a:off x="189244" y="169709"/>
            <a:ext cx="7269525" cy="68107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"/>
              <a:t>Activity Diagram</a:t>
            </a:r>
            <a:endParaRPr b="1"/>
          </a:p>
        </p:txBody>
      </p:sp>
      <p:sp>
        <p:nvSpPr>
          <p:cNvPr id="212" name="Google Shape;212;p36"/>
          <p:cNvSpPr txBox="1"/>
          <p:nvPr>
            <p:ph idx="12" type="sldNum"/>
          </p:nvPr>
        </p:nvSpPr>
        <p:spPr>
          <a:xfrm>
            <a:off x="8469630" y="4629150"/>
            <a:ext cx="685800" cy="44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3" name="Google Shape;21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4850" y="95250"/>
            <a:ext cx="1648525" cy="4598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36"/>
          <p:cNvSpPr txBox="1"/>
          <p:nvPr/>
        </p:nvSpPr>
        <p:spPr>
          <a:xfrm>
            <a:off x="4616450" y="4677825"/>
            <a:ext cx="2317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Fig.3.0. Activity Diagram</a:t>
            </a:r>
            <a:endParaRPr>
              <a:solidFill>
                <a:schemeClr val="dk1"/>
              </a:solidFill>
              <a:latin typeface="Century Schoolbook"/>
              <a:ea typeface="Century Schoolbook"/>
              <a:cs typeface="Century Schoolbook"/>
              <a:sym typeface="Century Schoolboo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>
            <p:ph type="title"/>
          </p:nvPr>
        </p:nvSpPr>
        <p:spPr>
          <a:xfrm>
            <a:off x="937235" y="65445"/>
            <a:ext cx="7269525" cy="99427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4. Tools Used </a:t>
            </a:r>
            <a:endParaRPr/>
          </a:p>
        </p:txBody>
      </p:sp>
      <p:sp>
        <p:nvSpPr>
          <p:cNvPr id="220" name="Google Shape;220;p37"/>
          <p:cNvSpPr txBox="1"/>
          <p:nvPr>
            <p:ph idx="1" type="body"/>
          </p:nvPr>
        </p:nvSpPr>
        <p:spPr>
          <a:xfrm>
            <a:off x="1022600" y="1195925"/>
            <a:ext cx="6446400" cy="3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342900" rtl="0" algn="just">
              <a:lnSpc>
                <a:spcPct val="50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-336550" lvl="0" marL="457200" rtl="0" algn="just">
              <a:lnSpc>
                <a:spcPct val="200000"/>
              </a:lnSpc>
              <a:spcBef>
                <a:spcPts val="11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Blender </a:t>
            </a:r>
            <a:endParaRPr sz="1700"/>
          </a:p>
          <a:p>
            <a:pPr indent="-33655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Unity 3D </a:t>
            </a:r>
            <a:endParaRPr sz="1700"/>
          </a:p>
          <a:p>
            <a:pPr indent="-33655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VR Headset </a:t>
            </a:r>
            <a:endParaRPr sz="1700"/>
          </a:p>
          <a:p>
            <a:pPr indent="-33655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Microsoft Visual Studio </a:t>
            </a:r>
            <a:endParaRPr sz="1700"/>
          </a:p>
          <a:p>
            <a:pPr indent="-33655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C# </a:t>
            </a:r>
            <a:endParaRPr sz="1700"/>
          </a:p>
          <a:p>
            <a:pPr indent="-33655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VRTK</a:t>
            </a:r>
            <a:endParaRPr sz="1700"/>
          </a:p>
          <a:p>
            <a:pPr indent="0" lvl="0" marL="0" rtl="0" algn="l">
              <a:lnSpc>
                <a:spcPct val="50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700"/>
              <a:t>       </a:t>
            </a:r>
            <a:endParaRPr sz="1700"/>
          </a:p>
        </p:txBody>
      </p:sp>
      <p:sp>
        <p:nvSpPr>
          <p:cNvPr id="221" name="Google Shape;221;p37"/>
          <p:cNvSpPr txBox="1"/>
          <p:nvPr>
            <p:ph idx="12" type="sldNum"/>
          </p:nvPr>
        </p:nvSpPr>
        <p:spPr>
          <a:xfrm>
            <a:off x="8469630" y="4629150"/>
            <a:ext cx="685800" cy="44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8"/>
          <p:cNvSpPr txBox="1"/>
          <p:nvPr>
            <p:ph type="title"/>
          </p:nvPr>
        </p:nvSpPr>
        <p:spPr>
          <a:xfrm>
            <a:off x="1940225" y="2368555"/>
            <a:ext cx="7269600" cy="586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5. App Highlights</a:t>
            </a:r>
            <a:endParaRPr/>
          </a:p>
        </p:txBody>
      </p:sp>
      <p:sp>
        <p:nvSpPr>
          <p:cNvPr id="227" name="Google Shape;227;p38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9"/>
          <p:cNvSpPr txBox="1"/>
          <p:nvPr>
            <p:ph type="title"/>
          </p:nvPr>
        </p:nvSpPr>
        <p:spPr>
          <a:xfrm>
            <a:off x="252554" y="65268"/>
            <a:ext cx="7269525" cy="562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Patient Room</a:t>
            </a:r>
            <a:endParaRPr/>
          </a:p>
        </p:txBody>
      </p:sp>
      <p:sp>
        <p:nvSpPr>
          <p:cNvPr id="233" name="Google Shape;233;p39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4" name="Google Shape;234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999" y="746226"/>
            <a:ext cx="6722074" cy="35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9"/>
          <p:cNvSpPr txBox="1"/>
          <p:nvPr/>
        </p:nvSpPr>
        <p:spPr>
          <a:xfrm>
            <a:off x="3067050" y="4398425"/>
            <a:ext cx="609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Fig.4.0. Patient Room</a:t>
            </a:r>
            <a:endParaRPr>
              <a:solidFill>
                <a:schemeClr val="dk1"/>
              </a:solidFill>
              <a:latin typeface="Century Schoolbook"/>
              <a:ea typeface="Century Schoolbook"/>
              <a:cs typeface="Century Schoolbook"/>
              <a:sym typeface="Century Schoolboo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0"/>
          <p:cNvSpPr txBox="1"/>
          <p:nvPr>
            <p:ph type="title"/>
          </p:nvPr>
        </p:nvSpPr>
        <p:spPr>
          <a:xfrm>
            <a:off x="28781" y="634"/>
            <a:ext cx="7269525" cy="63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Tools Area</a:t>
            </a:r>
            <a:endParaRPr/>
          </a:p>
        </p:txBody>
      </p:sp>
      <p:sp>
        <p:nvSpPr>
          <p:cNvPr id="241" name="Google Shape;241;p40"/>
          <p:cNvSpPr txBox="1"/>
          <p:nvPr>
            <p:ph idx="12" type="sldNum"/>
          </p:nvPr>
        </p:nvSpPr>
        <p:spPr>
          <a:xfrm>
            <a:off x="8469630" y="4629150"/>
            <a:ext cx="685800" cy="44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2" name="Google Shape;24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0749" y="610926"/>
            <a:ext cx="7094775" cy="3861149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40"/>
          <p:cNvSpPr txBox="1"/>
          <p:nvPr/>
        </p:nvSpPr>
        <p:spPr>
          <a:xfrm>
            <a:off x="3016250" y="4472525"/>
            <a:ext cx="609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Fig.5.0. Tools Area</a:t>
            </a:r>
            <a:endParaRPr>
              <a:solidFill>
                <a:schemeClr val="dk1"/>
              </a:solidFill>
              <a:latin typeface="Century Schoolbook"/>
              <a:ea typeface="Century Schoolbook"/>
              <a:cs typeface="Century Schoolbook"/>
              <a:sym typeface="Century Schoolboo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969" y="183375"/>
            <a:ext cx="7506373" cy="489105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41"/>
          <p:cNvSpPr txBox="1"/>
          <p:nvPr>
            <p:ph type="title"/>
          </p:nvPr>
        </p:nvSpPr>
        <p:spPr>
          <a:xfrm>
            <a:off x="815869" y="263981"/>
            <a:ext cx="2643525" cy="6367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45454"/>
              <a:buNone/>
            </a:pPr>
            <a:r>
              <a:rPr lang="en"/>
              <a:t>6. Teamwork</a:t>
            </a:r>
            <a:endParaRPr/>
          </a:p>
        </p:txBody>
      </p:sp>
      <p:sp>
        <p:nvSpPr>
          <p:cNvPr id="250" name="Google Shape;250;p41"/>
          <p:cNvSpPr txBox="1"/>
          <p:nvPr>
            <p:ph idx="12" type="sldNum"/>
          </p:nvPr>
        </p:nvSpPr>
        <p:spPr>
          <a:xfrm>
            <a:off x="8469630" y="4629150"/>
            <a:ext cx="685800" cy="44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2"/>
          <p:cNvSpPr txBox="1"/>
          <p:nvPr>
            <p:ph type="title"/>
          </p:nvPr>
        </p:nvSpPr>
        <p:spPr>
          <a:xfrm>
            <a:off x="635320" y="2074664"/>
            <a:ext cx="726948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entury Schoolbook"/>
              <a:buNone/>
            </a:pPr>
            <a:r>
              <a:rPr lang="en"/>
              <a:t>Demo Video</a:t>
            </a:r>
            <a:endParaRPr/>
          </a:p>
        </p:txBody>
      </p:sp>
      <p:sp>
        <p:nvSpPr>
          <p:cNvPr id="256" name="Google Shape;256;p42"/>
          <p:cNvSpPr txBox="1"/>
          <p:nvPr>
            <p:ph idx="12" type="sldNum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