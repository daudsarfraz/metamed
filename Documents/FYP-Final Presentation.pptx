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Century Schoolbook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enturySchoolbook-regular.fntdata"/><Relationship Id="rId21" Type="http://schemas.openxmlformats.org/officeDocument/2006/relationships/slide" Target="slides/slide16.xml"/><Relationship Id="rId24" Type="http://schemas.openxmlformats.org/officeDocument/2006/relationships/font" Target="fonts/CenturySchoolbook-italic.fntdata"/><Relationship Id="rId23" Type="http://schemas.openxmlformats.org/officeDocument/2006/relationships/font" Target="fonts/CenturySchoolbook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schemas.openxmlformats.org/officeDocument/2006/relationships/font" Target="fonts/CenturySchoolboo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3c8cf3bc5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3c8cf3bc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3c8cf3bc5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c3c8cf3bc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3c8cf3bc5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c3c8cf3bc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343437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343437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b="0"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 txBox="1"/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1" name="Google Shape;81;p12"/>
          <p:cNvPicPr preferRelativeResize="0"/>
          <p:nvPr>
            <p:ph idx="2" type="pic"/>
          </p:nvPr>
        </p:nvPicPr>
        <p:blipFill/>
        <p:spPr>
          <a:xfrm>
            <a:off x="0" y="0"/>
            <a:ext cx="11292840" cy="512892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2" name="Google Shape;82;p12"/>
          <p:cNvSpPr txBox="1"/>
          <p:nvPr>
            <p:ph idx="1" type="body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ctrTitle"/>
          </p:nvPr>
        </p:nvSpPr>
        <p:spPr>
          <a:xfrm>
            <a:off x="3672700" y="1827650"/>
            <a:ext cx="7832700" cy="18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en-US" sz="4000"/>
              <a:t>Enhancing Medical Education through Immersive Virtual   Reality</a:t>
            </a:r>
            <a:endParaRPr sz="4000"/>
          </a:p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80000"/>
              <a:buFont typeface="Century Schoolbook"/>
              <a:buNone/>
            </a:pPr>
            <a:r>
              <a:t/>
            </a:r>
            <a:endParaRPr sz="4000"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1261872" y="4018808"/>
            <a:ext cx="9418320" cy="2473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60"/>
              <a:buNone/>
            </a:pPr>
            <a:r>
              <a:rPr b="1" lang="en-US" sz="1600"/>
              <a:t>Group Members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rPr b="1" lang="en-US" sz="1600"/>
              <a:t>Dawood Sarfraz (20P-0153)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rPr b="1" lang="en-US" sz="1600"/>
              <a:t>Waleed Akram(20P-0640)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b="1" lang="en-US" sz="1600"/>
              <a:t>Shoaib Akhtar (20P-0147))</a:t>
            </a:r>
            <a:r>
              <a:rPr b="1" lang="en-US" sz="1600">
                <a:solidFill>
                  <a:srgbClr val="BFBFBF"/>
                </a:solidFill>
              </a:rPr>
              <a:t>                                                   </a:t>
            </a:r>
            <a:r>
              <a:rPr b="1" lang="en-US" sz="1600"/>
              <a:t> </a:t>
            </a:r>
            <a:r>
              <a:rPr b="1" lang="en-US" sz="1600">
                <a:solidFill>
                  <a:srgbClr val="BFBFBF"/>
                </a:solidFill>
              </a:rPr>
              <a:t>                </a:t>
            </a:r>
            <a:r>
              <a:rPr b="1" lang="en-US" sz="1600">
                <a:solidFill>
                  <a:srgbClr val="FFFFFF"/>
                </a:solidFill>
              </a:rPr>
              <a:t>Project Supervisor</a:t>
            </a:r>
            <a:endParaRPr b="1" sz="1600">
              <a:solidFill>
                <a:srgbClr val="BFBFB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rPr b="1" lang="en-US" sz="1600">
                <a:solidFill>
                  <a:srgbClr val="FFFFFF"/>
                </a:solidFill>
              </a:rPr>
              <a:t>                                                                                                                   </a:t>
            </a:r>
            <a:r>
              <a:rPr b="1" lang="en-US" sz="1600">
                <a:solidFill>
                  <a:srgbClr val="FFFFFF"/>
                </a:solidFill>
              </a:rPr>
              <a:t>Dr. Muhammad</a:t>
            </a:r>
            <a:r>
              <a:rPr b="1" lang="en-US" sz="1600">
                <a:solidFill>
                  <a:srgbClr val="FFFFFF"/>
                </a:solidFill>
              </a:rPr>
              <a:t> </a:t>
            </a:r>
            <a:r>
              <a:rPr b="1" lang="en-US" sz="1600">
                <a:solidFill>
                  <a:srgbClr val="FFFFFF"/>
                </a:solidFill>
              </a:rPr>
              <a:t>Amin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120"/>
              <a:buNone/>
            </a:pPr>
            <a:r>
              <a:rPr b="1" lang="en-US" sz="1600">
                <a:solidFill>
                  <a:srgbClr val="FFFFFF"/>
                </a:solidFill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           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b="1" sz="1600"/>
          </a:p>
        </p:txBody>
      </p:sp>
      <p:pic>
        <p:nvPicPr>
          <p:cNvPr descr="A blue circle with white text and a green letter&#10;&#10;Description automatically generated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406" y="-4763"/>
            <a:ext cx="1266331" cy="12663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357825" y="1601375"/>
            <a:ext cx="29763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MetaMed:</a:t>
            </a:r>
            <a:endParaRPr sz="420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713175" y="278727"/>
            <a:ext cx="96927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Table Of Content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1261875" y="1487700"/>
            <a:ext cx="8595300" cy="5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Introduction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Execution Plan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UML Diagrams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Tools Used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App Highlights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Teamwork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-34544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Demo</a:t>
            </a:r>
            <a:endParaRPr sz="4000"/>
          </a:p>
          <a:p>
            <a:pPr indent="0" lvl="0" marL="182880" rtl="0" algn="l">
              <a:lnSpc>
                <a:spcPct val="6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746717" y="2898605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             1. </a:t>
            </a:r>
            <a:r>
              <a:rPr lang="en-US"/>
              <a:t>Introduction</a:t>
            </a:r>
            <a:endParaRPr/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14519" y="161844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140" lvl="0" marL="18288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VR</a:t>
            </a:r>
            <a:r>
              <a:rPr lang="en-US" sz="2200"/>
              <a:t>-based medical training platform.</a:t>
            </a:r>
            <a:endParaRPr sz="2200"/>
          </a:p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231140" lvl="0" marL="182880" rtl="0" algn="l"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Develop VR medical simulations with haptic feedback, enabling realistic training for medical students.</a:t>
            </a:r>
            <a:endParaRPr sz="2200"/>
          </a:p>
          <a:p>
            <a:pPr indent="0" lvl="0" marL="18288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231140" lvl="0" marL="182880" rtl="0" algn="l"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Reduce costs and ethical concerns associated with traditional surgical training methods.</a:t>
            </a:r>
            <a:endParaRPr sz="22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200"/>
          </a:p>
          <a:p>
            <a:pPr indent="-2311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Unity 3D, Blender for environments.</a:t>
            </a:r>
            <a:endParaRPr sz="2200"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746717" y="2898605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            2. Execution Plan</a:t>
            </a:r>
            <a:endParaRPr/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831900" y="226275"/>
            <a:ext cx="96927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Execution Plan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1667400" y="1251575"/>
            <a:ext cx="8595300" cy="5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8288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FYP-1</a:t>
            </a:r>
            <a:endParaRPr b="1" sz="2000"/>
          </a:p>
          <a:p>
            <a:pPr indent="-218440" lvl="0" marL="182880" rtl="0" algn="l"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Environment setup in Unity3D and Blende</a:t>
            </a:r>
            <a:endParaRPr sz="2000"/>
          </a:p>
          <a:p>
            <a:pPr indent="-218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Assets of App (Patient body, bed, tables and environment).</a:t>
            </a:r>
            <a:endParaRPr sz="2000"/>
          </a:p>
          <a:p>
            <a:pPr indent="-218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Developed basic </a:t>
            </a:r>
            <a:r>
              <a:rPr lang="en-US" sz="2000"/>
              <a:t>animations</a:t>
            </a:r>
            <a:r>
              <a:rPr lang="en-US" sz="2000"/>
              <a:t> in 3D.</a:t>
            </a:r>
            <a:endParaRPr sz="2000"/>
          </a:p>
          <a:p>
            <a:pPr indent="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2000"/>
              <a:t>FYP-2</a:t>
            </a:r>
            <a:endParaRPr b="1" sz="2000"/>
          </a:p>
          <a:p>
            <a:pPr indent="-218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Environment rendering to HDR.</a:t>
            </a:r>
            <a:endParaRPr sz="2000"/>
          </a:p>
          <a:p>
            <a:pPr indent="-218440" lvl="0" marL="182880" rtl="0" algn="l"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Rendering of Assets .</a:t>
            </a:r>
            <a:endParaRPr sz="2000"/>
          </a:p>
          <a:p>
            <a:pPr indent="-218440" lvl="0" marL="182880" rtl="0" algn="l"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Handling of Assets(Syringes, Pill Bottle, Sanitizers).</a:t>
            </a:r>
            <a:endParaRPr sz="2000"/>
          </a:p>
          <a:p>
            <a:pPr indent="-218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Integration in oculus.</a:t>
            </a:r>
            <a:endParaRPr sz="2000"/>
          </a:p>
          <a:p>
            <a:pPr indent="-21844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Testing in oculus set.</a:t>
            </a:r>
            <a:endParaRPr sz="2000"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46717" y="2898605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           3. UML Diagrams</a:t>
            </a:r>
            <a:endParaRPr/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0" y="156651"/>
            <a:ext cx="101433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en-US"/>
              <a:t>Use case Diagram</a:t>
            </a:r>
            <a:endParaRPr b="1"/>
          </a:p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425" y="1496925"/>
            <a:ext cx="8581200" cy="50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285224" y="97450"/>
            <a:ext cx="9649711" cy="799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b="1" lang="en-US"/>
              <a:t>Sequence Diagram</a:t>
            </a:r>
            <a:endParaRPr b="1"/>
          </a:p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900" y="1323875"/>
            <a:ext cx="9183099" cy="503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252325" y="226278"/>
            <a:ext cx="9692700" cy="908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Activity</a:t>
            </a:r>
            <a:r>
              <a:rPr b="1" lang="en-US"/>
              <a:t> Diagram</a:t>
            </a:r>
            <a:endParaRPr b="1"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575" y="104425"/>
            <a:ext cx="4003400" cy="66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1249647" y="87260"/>
            <a:ext cx="96927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Tools Used 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1261872" y="1828800"/>
            <a:ext cx="8595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1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Blender </a:t>
            </a:r>
            <a:endParaRPr sz="2200"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Unity 3D </a:t>
            </a:r>
            <a:endParaRPr sz="2200"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VR Headset</a:t>
            </a:r>
            <a:endParaRPr sz="2200"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Microsoft Visual Studio</a:t>
            </a:r>
            <a:endParaRPr sz="2200"/>
          </a:p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C# </a:t>
            </a:r>
            <a:endParaRPr sz="2200"/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961365" y="2716154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5. App Highlights</a:t>
            </a:r>
            <a:endParaRPr/>
          </a:p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36738" y="87024"/>
            <a:ext cx="96927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Patient Room</a:t>
            </a:r>
            <a:endParaRPr/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50" y="1096575"/>
            <a:ext cx="10049825" cy="53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8375" y="846"/>
            <a:ext cx="96927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Tools Area</a:t>
            </a:r>
            <a:endParaRPr/>
          </a:p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50" y="1119375"/>
            <a:ext cx="10375401" cy="564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25" y="244500"/>
            <a:ext cx="10008499" cy="6521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type="title"/>
          </p:nvPr>
        </p:nvSpPr>
        <p:spPr>
          <a:xfrm>
            <a:off x="1087825" y="351975"/>
            <a:ext cx="3524700" cy="849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 T</a:t>
            </a:r>
            <a:r>
              <a:rPr lang="en-US"/>
              <a:t>eamwor</a:t>
            </a:r>
            <a:r>
              <a:rPr lang="en-US"/>
              <a:t>k</a:t>
            </a:r>
            <a:endParaRPr/>
          </a:p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847093" y="2766219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Demo </a:t>
            </a:r>
            <a:endParaRPr/>
          </a:p>
        </p:txBody>
      </p:sp>
      <p:sp>
        <p:nvSpPr>
          <p:cNvPr id="206" name="Google Shape;206;p3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